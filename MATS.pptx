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6.png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2.png"/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4.png"/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25.png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23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03120"/>
            <a:ext cx="6858000" cy="6858000"/>
          </a:xfrm>
          <a:prstGeom prst="ellipse">
            <a:avLst/>
          </a:prstGeom>
          <a:solidFill>
            <a:srgbClr val="FF7A29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4389120"/>
            <a:ext cx="5943600" cy="5943600"/>
          </a:xfrm>
          <a:prstGeom prst="ellipse">
            <a:avLst/>
          </a:prstGeom>
          <a:solidFill>
            <a:srgbClr val="FF7A29">
              <a:alpha val="1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VIT</a:t>
            </a: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HACKATHON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1732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8600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Many Minds. </a:t>
            </a:r>
            <a:r>
              <a:rPr lang="en-US" sz="40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Verdict.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Autonomous Financial Intelligence System for Retail Investors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843430" cy="365760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9" name="Text 7"/>
          <p:cNvSpPr txBox="1"/>
          <p:nvPr/>
        </p:nvSpPr>
        <p:spPr>
          <a:xfrm>
            <a:off x="640080" y="3977640"/>
            <a:ext cx="184343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Evidence-Grounded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66390" y="3977640"/>
            <a:ext cx="1216152" cy="365760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11" name="Text 9"/>
          <p:cNvSpPr txBox="1"/>
          <p:nvPr/>
        </p:nvSpPr>
        <p:spPr>
          <a:xfrm>
            <a:off x="2666390" y="397764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Autonomous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5422" y="3977640"/>
            <a:ext cx="1216152" cy="365760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13" name="Text 11"/>
          <p:cNvSpPr txBox="1"/>
          <p:nvPr/>
        </p:nvSpPr>
        <p:spPr>
          <a:xfrm>
            <a:off x="4065422" y="397764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Risk-Aware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4454" y="3977640"/>
            <a:ext cx="1305763" cy="365760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15" name="Text 13"/>
          <p:cNvSpPr txBox="1"/>
          <p:nvPr/>
        </p:nvSpPr>
        <p:spPr>
          <a:xfrm>
            <a:off x="5464454" y="3977640"/>
            <a:ext cx="1305763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Explainable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BY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1937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5248656"/>
            <a:ext cx="9921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Yugandran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73452" y="5193792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73452" y="51937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40380" y="5248656"/>
            <a:ext cx="10881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Manikandan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02836" y="5193792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02836" y="51937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69764" y="5248656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Suhail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760720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760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5815584"/>
            <a:ext cx="9921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Lekasvarr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73452" y="5760720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73452" y="5760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040380" y="5815584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Nithish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69680" y="1417320"/>
            <a:ext cx="2743200" cy="4160520"/>
          </a:xfrm>
          <a:prstGeom prst="roundRect">
            <a:avLst>
              <a:gd name="adj" fmla="val 466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98280" y="16184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INTELLIGENCE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25712" y="2020824"/>
            <a:ext cx="384048" cy="38404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5" name="Image 0" descr="/home/claude/mat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123" y="2107235"/>
            <a:ext cx="211226" cy="211226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9646920" y="2039112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Data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317736" y="2404872"/>
            <a:ext cx="0" cy="219456"/>
          </a:xfrm>
          <a:prstGeom prst="line">
            <a:avLst/>
          </a:prstGeom>
          <a:noFill/>
          <a:ln w="19050">
            <a:solidFill>
              <a:srgbClr val="2A2E3A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9125712" y="2624328"/>
            <a:ext cx="384048" cy="38404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9" name="Image 1" descr="/home/claude/mats_deck/icons/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123" y="2710739"/>
            <a:ext cx="211226" cy="21122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9646920" y="264261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Retrieval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9317736" y="3008376"/>
            <a:ext cx="0" cy="219456"/>
          </a:xfrm>
          <a:prstGeom prst="line">
            <a:avLst/>
          </a:prstGeom>
          <a:noFill/>
          <a:ln w="19050">
            <a:solidFill>
              <a:srgbClr val="2A2E3A"/>
            </a:solidFill>
            <a:prstDash val="dash"/>
          </a:ln>
        </p:spPr>
      </p:sp>
      <p:sp>
        <p:nvSpPr>
          <p:cNvPr id="42" name="Shape 38"/>
          <p:cNvSpPr/>
          <p:nvPr/>
        </p:nvSpPr>
        <p:spPr>
          <a:xfrm>
            <a:off x="9125712" y="3227832"/>
            <a:ext cx="384048" cy="38404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43" name="Image 2" descr="/home/claude/mats_deck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123" y="3314243"/>
            <a:ext cx="211226" cy="211226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9646920" y="32461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Council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9317736" y="3611880"/>
            <a:ext cx="0" cy="219456"/>
          </a:xfrm>
          <a:prstGeom prst="line">
            <a:avLst/>
          </a:prstGeom>
          <a:noFill/>
          <a:ln w="19050">
            <a:solidFill>
              <a:srgbClr val="2A2E3A"/>
            </a:solidFill>
            <a:prstDash val="dash"/>
          </a:ln>
        </p:spPr>
      </p:sp>
      <p:sp>
        <p:nvSpPr>
          <p:cNvPr id="46" name="Shape 41"/>
          <p:cNvSpPr/>
          <p:nvPr/>
        </p:nvSpPr>
        <p:spPr>
          <a:xfrm>
            <a:off x="9125712" y="3831336"/>
            <a:ext cx="384048" cy="38404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47" name="Image 3" descr="/home/claude/mats_deck/icons/git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123" y="3917747"/>
            <a:ext cx="211226" cy="211226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9646920" y="384962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Check</a:t>
            </a:r>
            <a:endParaRPr lang="en-US" sz="1150" dirty="0"/>
          </a:p>
        </p:txBody>
      </p:sp>
      <p:sp>
        <p:nvSpPr>
          <p:cNvPr id="49" name="Shape 43"/>
          <p:cNvSpPr/>
          <p:nvPr/>
        </p:nvSpPr>
        <p:spPr>
          <a:xfrm>
            <a:off x="9317736" y="4215384"/>
            <a:ext cx="0" cy="219456"/>
          </a:xfrm>
          <a:prstGeom prst="line">
            <a:avLst/>
          </a:prstGeom>
          <a:noFill/>
          <a:ln w="19050">
            <a:solidFill>
              <a:srgbClr val="2A2E3A"/>
            </a:solidFill>
            <a:prstDash val="dash"/>
          </a:ln>
        </p:spPr>
      </p:sp>
      <p:sp>
        <p:nvSpPr>
          <p:cNvPr id="50" name="Shape 44"/>
          <p:cNvSpPr/>
          <p:nvPr/>
        </p:nvSpPr>
        <p:spPr>
          <a:xfrm>
            <a:off x="9125712" y="4434840"/>
            <a:ext cx="384048" cy="38404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51" name="Image 4" descr="/home/claude/mats_deck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123" y="4521251"/>
            <a:ext cx="211226" cy="211226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9646920" y="4453128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Engine</a:t>
            </a:r>
            <a:endParaRPr lang="en-US" sz="1150" dirty="0"/>
          </a:p>
        </p:txBody>
      </p:sp>
      <p:sp>
        <p:nvSpPr>
          <p:cNvPr id="53" name="Shape 46"/>
          <p:cNvSpPr/>
          <p:nvPr/>
        </p:nvSpPr>
        <p:spPr>
          <a:xfrm>
            <a:off x="9317736" y="4818888"/>
            <a:ext cx="0" cy="219456"/>
          </a:xfrm>
          <a:prstGeom prst="line">
            <a:avLst/>
          </a:prstGeom>
          <a:noFill/>
          <a:ln w="19050">
            <a:solidFill>
              <a:srgbClr val="2A2E3A"/>
            </a:solidFill>
            <a:prstDash val="dash"/>
          </a:ln>
        </p:spPr>
      </p:sp>
      <p:sp>
        <p:nvSpPr>
          <p:cNvPr id="54" name="Shape 47"/>
          <p:cNvSpPr/>
          <p:nvPr/>
        </p:nvSpPr>
        <p:spPr>
          <a:xfrm>
            <a:off x="9125712" y="5038344"/>
            <a:ext cx="384048" cy="384048"/>
          </a:xfrm>
          <a:prstGeom prst="ellipse">
            <a:avLst/>
          </a:prstGeom>
          <a:solidFill>
            <a:srgbClr val="FF7A29"/>
          </a:solidFill>
        </p:spPr>
      </p:sp>
      <p:pic>
        <p:nvPicPr>
          <p:cNvPr id="55" name="Image 5" descr="/home/claude/mats_deck/icons/mess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123" y="5124755"/>
            <a:ext cx="211226" cy="211226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9646920" y="5056632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Copilot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Retail Investors Are Drowning in Disconnected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66928" cy="566928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5" name="Image 0" descr="/home/claude/mats_deck/icons/dolla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210769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94767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Fragmented by nature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276856"/>
            <a:ext cx="4709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Prices, filings, news and research live in separate, unconnected systems.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264408"/>
            <a:ext cx="566928" cy="566928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9" name="Image 1" descr="/home/claude/mats_deck/icons/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3406140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246120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correlation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575304"/>
            <a:ext cx="4709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Investors must personally connect these signals before any decision is possible.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4562856"/>
            <a:ext cx="566928" cy="566928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13" name="Image 2" descr="/home/claude/mats_deck/icons/mess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470458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4544568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Generic AI isn't enough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873752"/>
            <a:ext cx="4709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Chatbots can summarize, but lack structured data, provenance, portfolio context and cross-checking.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37960" y="1783080"/>
            <a:ext cx="5166360" cy="4160520"/>
          </a:xfrm>
          <a:prstGeom prst="roundRect">
            <a:avLst>
              <a:gd name="adj" fmla="val 307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12280" y="199339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SIGNAL FRAGMENTATION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858000" y="2423160"/>
            <a:ext cx="640080" cy="64008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9" name="Image 3" descr="/home/claude/mats_deck/icons/dolla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020" y="25831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20840" y="3090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028432" y="2423160"/>
            <a:ext cx="640080" cy="64008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2" name="Image 4" descr="/home/claude/mats_deck/icons/filetex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25831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891272" y="3090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Filings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198864" y="2423160"/>
            <a:ext cx="640080" cy="64008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5" name="Image 5" descr="/home/claude/mats_deck/icons/activ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8884" y="25831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61704" y="3090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10369296" y="2423160"/>
            <a:ext cx="640080" cy="64008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8" name="Image 6" descr="/home/claude/mats_deck/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9316" y="25831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232136" y="3090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8974836" y="3429000"/>
            <a:ext cx="292608" cy="320040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31" name="Shape 22"/>
          <p:cNvSpPr/>
          <p:nvPr/>
        </p:nvSpPr>
        <p:spPr>
          <a:xfrm>
            <a:off x="7086600" y="3886200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7086600" y="3886200"/>
            <a:ext cx="4069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Manual, Slow Research</a:t>
            </a:r>
            <a:endParaRPr lang="en-US" sz="1350" dirty="0"/>
          </a:p>
        </p:txBody>
      </p:sp>
      <p:sp>
        <p:nvSpPr>
          <p:cNvPr id="33" name="Shape 24"/>
          <p:cNvSpPr/>
          <p:nvPr/>
        </p:nvSpPr>
        <p:spPr>
          <a:xfrm>
            <a:off x="8974836" y="4617720"/>
            <a:ext cx="292608" cy="320040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34" name="Shape 25"/>
          <p:cNvSpPr/>
          <p:nvPr/>
        </p:nvSpPr>
        <p:spPr>
          <a:xfrm>
            <a:off x="6903720" y="5074920"/>
            <a:ext cx="4434840" cy="640080"/>
          </a:xfrm>
          <a:prstGeom prst="roundRect">
            <a:avLst>
              <a:gd name="adj" fmla="val 14286"/>
            </a:avLst>
          </a:prstGeom>
          <a:solidFill>
            <a:srgbClr val="381823"/>
          </a:solidFill>
          <a:ln w="12700">
            <a:solidFill>
              <a:srgbClr val="F0596F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903720" y="5074920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96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Slow or Missed Insight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— THE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Generic AI Falls Short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model answering a single question can't cross-check itself.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349240" cy="4160520"/>
          </a:xfrm>
          <a:prstGeom prst="roundRect">
            <a:avLst>
              <a:gd name="adj" fmla="val 3516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7" name="Image 0" descr="/home/claude/mats_deck/icons/mess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44144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Generic Chatbot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31089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0232E"/>
          </a:solidFill>
        </p:spPr>
      </p:sp>
      <p:sp>
        <p:nvSpPr>
          <p:cNvPr id="10" name="Text 7"/>
          <p:cNvSpPr txBox="1"/>
          <p:nvPr/>
        </p:nvSpPr>
        <p:spPr>
          <a:xfrm>
            <a:off x="822960" y="31089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 →  Answer</a:t>
            </a:r>
            <a:endParaRPr lang="en-US" sz="1100" dirty="0"/>
          </a:p>
        </p:txBody>
      </p:sp>
      <p:pic>
        <p:nvPicPr>
          <p:cNvPr id="11" name="Image 1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67328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5528" y="3739896"/>
            <a:ext cx="256032" cy="256032"/>
          </a:xfrm>
          <a:prstGeom prst="ellipse">
            <a:avLst/>
          </a:prstGeom>
          <a:solidFill>
            <a:srgbClr val="3A2230"/>
          </a:solidFill>
        </p:spPr>
      </p:sp>
      <p:pic>
        <p:nvPicPr>
          <p:cNvPr id="13" name="Image 2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3799332"/>
            <a:ext cx="137160" cy="1371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16152" y="37033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model, single pass</a:t>
            </a:r>
            <a:endParaRPr lang="en-US" sz="1250" dirty="0"/>
          </a:p>
        </p:txBody>
      </p:sp>
      <p:pic>
        <p:nvPicPr>
          <p:cNvPr id="15" name="Image 3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24528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95528" y="4197096"/>
            <a:ext cx="256032" cy="256032"/>
          </a:xfrm>
          <a:prstGeom prst="ellipse">
            <a:avLst/>
          </a:prstGeom>
          <a:solidFill>
            <a:srgbClr val="3A2230"/>
          </a:solidFill>
        </p:spPr>
      </p:sp>
      <p:pic>
        <p:nvPicPr>
          <p:cNvPr id="17" name="Image 4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256532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16152" y="41605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provenance or citations</a:t>
            </a:r>
            <a:endParaRPr lang="en-US" sz="1250" dirty="0"/>
          </a:p>
        </p:txBody>
      </p:sp>
      <p:pic>
        <p:nvPicPr>
          <p:cNvPr id="19" name="Image 5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81728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95528" y="4654296"/>
            <a:ext cx="256032" cy="256032"/>
          </a:xfrm>
          <a:prstGeom prst="ellipse">
            <a:avLst/>
          </a:prstGeom>
          <a:solidFill>
            <a:srgbClr val="3A2230"/>
          </a:solidFill>
        </p:spPr>
      </p:sp>
      <p:pic>
        <p:nvPicPr>
          <p:cNvPr id="21" name="Image 6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713732"/>
            <a:ext cx="137160" cy="13716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216152" y="46177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portfolio context</a:t>
            </a:r>
            <a:endParaRPr lang="en-US" sz="1250" dirty="0"/>
          </a:p>
        </p:txBody>
      </p:sp>
      <p:pic>
        <p:nvPicPr>
          <p:cNvPr id="23" name="Image 7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38928"/>
            <a:ext cx="201168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95528" y="5111496"/>
            <a:ext cx="256032" cy="256032"/>
          </a:xfrm>
          <a:prstGeom prst="ellipse">
            <a:avLst/>
          </a:prstGeom>
          <a:solidFill>
            <a:srgbClr val="3A2230"/>
          </a:solidFill>
        </p:spPr>
      </p:sp>
      <p:pic>
        <p:nvPicPr>
          <p:cNvPr id="25" name="Image 8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5170932"/>
            <a:ext cx="137160" cy="13716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216152" y="50749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cross-checking of claims</a:t>
            </a:r>
            <a:endParaRPr lang="en-US" sz="1250" dirty="0"/>
          </a:p>
        </p:txBody>
      </p:sp>
      <p:pic>
        <p:nvPicPr>
          <p:cNvPr id="27" name="Image 9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96128"/>
            <a:ext cx="201168" cy="201168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795528" y="5568696"/>
            <a:ext cx="256032" cy="256032"/>
          </a:xfrm>
          <a:prstGeom prst="ellipse">
            <a:avLst/>
          </a:prstGeom>
          <a:solidFill>
            <a:srgbClr val="3A2230"/>
          </a:solidFill>
        </p:spPr>
      </p:sp>
      <p:pic>
        <p:nvPicPr>
          <p:cNvPr id="29" name="Image 10" descr="/home/claude/mats_deck/icons/x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5628132"/>
            <a:ext cx="137160" cy="13716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216152" y="55321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Can't detect its own conflicts</a:t>
            </a:r>
            <a:endParaRPr lang="en-US" sz="1250" dirty="0"/>
          </a:p>
        </p:txBody>
      </p:sp>
      <p:sp>
        <p:nvSpPr>
          <p:cNvPr id="31" name="Shape 18"/>
          <p:cNvSpPr/>
          <p:nvPr/>
        </p:nvSpPr>
        <p:spPr>
          <a:xfrm>
            <a:off x="6309360" y="2057400"/>
            <a:ext cx="5394960" cy="4160520"/>
          </a:xfrm>
          <a:prstGeom prst="roundRect">
            <a:avLst>
              <a:gd name="adj" fmla="val 3516"/>
            </a:avLst>
          </a:prstGeom>
          <a:solidFill>
            <a:srgbClr val="1A1712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32" name="Shape 19"/>
          <p:cNvSpPr/>
          <p:nvPr/>
        </p:nvSpPr>
        <p:spPr>
          <a:xfrm>
            <a:off x="6629400" y="2377440"/>
            <a:ext cx="548640" cy="548640"/>
          </a:xfrm>
          <a:prstGeom prst="ellipse">
            <a:avLst/>
          </a:prstGeom>
          <a:solidFill>
            <a:srgbClr val="FF7A29"/>
          </a:solidFill>
        </p:spPr>
      </p:sp>
      <p:pic>
        <p:nvPicPr>
          <p:cNvPr id="33" name="Image 11" descr="/home/claude/mats_deck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514600"/>
            <a:ext cx="274320" cy="27432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315200" y="244144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MATS</a:t>
            </a:r>
            <a:endParaRPr lang="en-US" sz="1700" dirty="0"/>
          </a:p>
        </p:txBody>
      </p:sp>
      <p:sp>
        <p:nvSpPr>
          <p:cNvPr id="35" name="Shape 21"/>
          <p:cNvSpPr/>
          <p:nvPr/>
        </p:nvSpPr>
        <p:spPr>
          <a:xfrm>
            <a:off x="6629400" y="3108960"/>
            <a:ext cx="4663440" cy="38404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36" name="Text 22"/>
          <p:cNvSpPr txBox="1"/>
          <p:nvPr/>
        </p:nvSpPr>
        <p:spPr>
          <a:xfrm>
            <a:off x="6629400" y="310896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/ Event  →  Orchestrator  →  Specialists</a:t>
            </a:r>
            <a:endParaRPr lang="en-US" sz="1050" dirty="0"/>
          </a:p>
        </p:txBody>
      </p:sp>
      <p:sp>
        <p:nvSpPr>
          <p:cNvPr id="37" name="Shape 23"/>
          <p:cNvSpPr/>
          <p:nvPr/>
        </p:nvSpPr>
        <p:spPr>
          <a:xfrm>
            <a:off x="6601968" y="3739896"/>
            <a:ext cx="256032" cy="256032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38" name="Image 12" descr="/home/claude/mats_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3799332"/>
            <a:ext cx="137160" cy="13716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7022592" y="37033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code for calculations</a:t>
            </a:r>
            <a:endParaRPr lang="en-US" sz="1250" dirty="0"/>
          </a:p>
        </p:txBody>
      </p:sp>
      <p:sp>
        <p:nvSpPr>
          <p:cNvPr id="40" name="Shape 25"/>
          <p:cNvSpPr/>
          <p:nvPr/>
        </p:nvSpPr>
        <p:spPr>
          <a:xfrm>
            <a:off x="6601968" y="4197096"/>
            <a:ext cx="256032" cy="256032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41" name="Image 13" descr="/home/claude/mats_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256532"/>
            <a:ext cx="137160" cy="137160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7022592" y="41605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Evidence-backed, cited research (RAG)</a:t>
            </a:r>
            <a:endParaRPr lang="en-US" sz="1250" dirty="0"/>
          </a:p>
        </p:txBody>
      </p:sp>
      <p:sp>
        <p:nvSpPr>
          <p:cNvPr id="43" name="Shape 27"/>
          <p:cNvSpPr/>
          <p:nvPr/>
        </p:nvSpPr>
        <p:spPr>
          <a:xfrm>
            <a:off x="6601968" y="4654296"/>
            <a:ext cx="256032" cy="256032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44" name="Image 14" descr="/home/claude/mats_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713732"/>
            <a:ext cx="137160" cy="137160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7022592" y="46177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Portfolio-aware context</a:t>
            </a:r>
            <a:endParaRPr lang="en-US" sz="1250" dirty="0"/>
          </a:p>
        </p:txBody>
      </p:sp>
      <p:sp>
        <p:nvSpPr>
          <p:cNvPr id="46" name="Shape 29"/>
          <p:cNvSpPr/>
          <p:nvPr/>
        </p:nvSpPr>
        <p:spPr>
          <a:xfrm>
            <a:off x="6601968" y="5111496"/>
            <a:ext cx="256032" cy="256032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47" name="Image 15" descr="/home/claude/mats_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5170932"/>
            <a:ext cx="137160" cy="137160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7022592" y="5074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detection across agents</a:t>
            </a:r>
            <a:endParaRPr lang="en-US" sz="1250" dirty="0"/>
          </a:p>
        </p:txBody>
      </p:sp>
      <p:sp>
        <p:nvSpPr>
          <p:cNvPr id="49" name="Shape 31"/>
          <p:cNvSpPr/>
          <p:nvPr/>
        </p:nvSpPr>
        <p:spPr>
          <a:xfrm>
            <a:off x="6601968" y="5568696"/>
            <a:ext cx="256032" cy="256032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50" name="Image 16" descr="/home/claude/mats_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5628132"/>
            <a:ext cx="137160" cy="137160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7022592" y="5532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Counterargument before synthesis</a:t>
            </a:r>
            <a:endParaRPr lang="en-US" sz="1250" dirty="0"/>
          </a:p>
        </p:txBody>
      </p:sp>
      <p:sp>
        <p:nvSpPr>
          <p:cNvPr id="52" name="Text 33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Gap</a:t>
            </a:r>
            <a:endParaRPr lang="en-US" sz="900" dirty="0"/>
          </a:p>
        </p:txBody>
      </p:sp>
      <p:sp>
        <p:nvSpPr>
          <p:cNvPr id="53" name="Text 34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— 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Pipeline: Data to Explainable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452590" cy="1417320"/>
          </a:xfrm>
          <a:prstGeom prst="roundRect">
            <a:avLst>
              <a:gd name="adj" fmla="val 7742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183" y="2350008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6" name="Image 0" descr="/home/claude/mat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078" y="247290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017520"/>
            <a:ext cx="14525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58802" y="2715768"/>
            <a:ext cx="148133" cy="274320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9" name="Shape 6"/>
          <p:cNvSpPr/>
          <p:nvPr/>
        </p:nvSpPr>
        <p:spPr>
          <a:xfrm>
            <a:off x="2120102" y="2148840"/>
            <a:ext cx="1452590" cy="1417320"/>
          </a:xfrm>
          <a:prstGeom prst="roundRect">
            <a:avLst>
              <a:gd name="adj" fmla="val 7742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90365" y="2350008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1" name="Image 1" descr="/home/claude/mats_deck/icons/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60" y="247290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20102" y="3017520"/>
            <a:ext cx="14525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575983" y="2715768"/>
            <a:ext cx="148133" cy="274320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14" name="Shape 10"/>
          <p:cNvSpPr/>
          <p:nvPr/>
        </p:nvSpPr>
        <p:spPr>
          <a:xfrm>
            <a:off x="3737283" y="2148840"/>
            <a:ext cx="1452590" cy="1417320"/>
          </a:xfrm>
          <a:prstGeom prst="roundRect">
            <a:avLst>
              <a:gd name="adj" fmla="val 7742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07546" y="2350008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6" name="Image 2" descr="/home/claude/mats_deck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442" y="247290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37283" y="3017520"/>
            <a:ext cx="14525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193165" y="2715768"/>
            <a:ext cx="148133" cy="274320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19" name="Shape 14"/>
          <p:cNvSpPr/>
          <p:nvPr/>
        </p:nvSpPr>
        <p:spPr>
          <a:xfrm>
            <a:off x="5354465" y="2148840"/>
            <a:ext cx="1452590" cy="1417320"/>
          </a:xfrm>
          <a:prstGeom prst="roundRect">
            <a:avLst>
              <a:gd name="adj" fmla="val 7742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24728" y="2350008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1" name="Image 3" descr="/home/claude/mats_deck/icons/git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623" y="2472903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54465" y="3017520"/>
            <a:ext cx="14525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Conflict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810347" y="2715768"/>
            <a:ext cx="148133" cy="274320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4" name="Shape 18"/>
          <p:cNvSpPr/>
          <p:nvPr/>
        </p:nvSpPr>
        <p:spPr>
          <a:xfrm>
            <a:off x="6971647" y="2148840"/>
            <a:ext cx="1452590" cy="1417320"/>
          </a:xfrm>
          <a:prstGeom prst="roundRect">
            <a:avLst>
              <a:gd name="adj" fmla="val 7742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41910" y="2350008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6" name="Image 4" descr="/home/claude/mats_deck/icons/gitmer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805" y="2472903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71647" y="3017520"/>
            <a:ext cx="14525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427528" y="2715768"/>
            <a:ext cx="148133" cy="274320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9" name="Shape 22"/>
          <p:cNvSpPr/>
          <p:nvPr/>
        </p:nvSpPr>
        <p:spPr>
          <a:xfrm>
            <a:off x="8588829" y="2148840"/>
            <a:ext cx="1452590" cy="1417320"/>
          </a:xfrm>
          <a:prstGeom prst="roundRect">
            <a:avLst>
              <a:gd name="adj" fmla="val 7742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059091" y="2350008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1" name="Image 5" descr="/home/claude/mats_deck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1987" y="2472903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588829" y="3017520"/>
            <a:ext cx="14525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10044710" y="2715768"/>
            <a:ext cx="148133" cy="274320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34" name="Shape 26"/>
          <p:cNvSpPr/>
          <p:nvPr/>
        </p:nvSpPr>
        <p:spPr>
          <a:xfrm>
            <a:off x="10206010" y="2148840"/>
            <a:ext cx="1452590" cy="1417320"/>
          </a:xfrm>
          <a:prstGeom prst="roundRect">
            <a:avLst>
              <a:gd name="adj" fmla="val 7742"/>
            </a:avLst>
          </a:prstGeom>
          <a:solidFill>
            <a:srgbClr val="1A1712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676273" y="2350008"/>
            <a:ext cx="512064" cy="512064"/>
          </a:xfrm>
          <a:prstGeom prst="ellipse">
            <a:avLst/>
          </a:prstGeom>
          <a:solidFill>
            <a:srgbClr val="FF7A29"/>
          </a:solidFill>
        </p:spPr>
      </p:sp>
      <p:pic>
        <p:nvPicPr>
          <p:cNvPr id="36" name="Image 6" descr="/home/claude/mats_deck/icons/bel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9169" y="2472903"/>
            <a:ext cx="266273" cy="26627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206010" y="3017520"/>
            <a:ext cx="14525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Alert / Copilot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502920" y="37490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code handles calculations. AI handles research, synthesis and explanation.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502920" y="44348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1280160" y="4690872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41" name="Image 7" descr="/home/claude/mats_deck/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2748" y="4823460"/>
            <a:ext cx="265176" cy="26517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12648" y="5349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Portfolio-aware intelligence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2770632" y="44348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3547872" y="4690872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45" name="Image 8" descr="/home/claude/mats_deck/icons/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4823460"/>
            <a:ext cx="265176" cy="265176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2880360" y="5349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Evidence-backed research</a:t>
            </a:r>
            <a:endParaRPr lang="en-US" sz="1150" dirty="0"/>
          </a:p>
        </p:txBody>
      </p:sp>
      <p:sp>
        <p:nvSpPr>
          <p:cNvPr id="47" name="Shape 36"/>
          <p:cNvSpPr/>
          <p:nvPr/>
        </p:nvSpPr>
        <p:spPr>
          <a:xfrm>
            <a:off x="5038344" y="44348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5815584" y="4690872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49" name="Image 9" descr="/home/claude/mats_deck/icons/ey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8172" y="4823460"/>
            <a:ext cx="265176" cy="265176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5148072" y="5349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monitoring</a:t>
            </a:r>
            <a:endParaRPr lang="en-US" sz="1150" dirty="0"/>
          </a:p>
        </p:txBody>
      </p:sp>
      <p:sp>
        <p:nvSpPr>
          <p:cNvPr id="51" name="Shape 39"/>
          <p:cNvSpPr/>
          <p:nvPr/>
        </p:nvSpPr>
        <p:spPr>
          <a:xfrm>
            <a:off x="7306056" y="44348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8083296" y="4690872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53" name="Image 10" descr="/home/claude/mats_deck/icons/aler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5884" y="4823460"/>
            <a:ext cx="265176" cy="265176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415784" y="5349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&amp; scenario analysis</a:t>
            </a:r>
            <a:endParaRPr lang="en-US" sz="1150" dirty="0"/>
          </a:p>
        </p:txBody>
      </p:sp>
      <p:sp>
        <p:nvSpPr>
          <p:cNvPr id="55" name="Shape 42"/>
          <p:cNvSpPr/>
          <p:nvPr/>
        </p:nvSpPr>
        <p:spPr>
          <a:xfrm>
            <a:off x="9573768" y="44348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6" name="Shape 43"/>
          <p:cNvSpPr/>
          <p:nvPr/>
        </p:nvSpPr>
        <p:spPr>
          <a:xfrm>
            <a:off x="10351008" y="4690872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57" name="Image 11" descr="/home/claude/mats_deck/icons/message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4823460"/>
            <a:ext cx="265176" cy="265176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9683496" y="5349240"/>
            <a:ext cx="186537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Natural-language Copilot</a:t>
            </a:r>
            <a:endParaRPr lang="en-US" sz="1150" dirty="0"/>
          </a:p>
        </p:txBody>
      </p:sp>
      <p:sp>
        <p:nvSpPr>
          <p:cNvPr id="59" name="Text 45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— AUTONOMY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Autonomy in Action: Event to Insight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doesn't have to start every investigation manually.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481328" cy="2331720"/>
          </a:xfrm>
          <a:prstGeom prst="roundRect">
            <a:avLst>
              <a:gd name="adj" fmla="val 740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350008"/>
            <a:ext cx="475488" cy="47548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7" name="Image 0" descr="/home/claude/mats_deck/icons/activity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68880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072" y="29352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 Event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429000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price move, filing or news signal occurs.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2003908" y="3186684"/>
            <a:ext cx="91745" cy="256032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11" name="Shape 8"/>
          <p:cNvSpPr/>
          <p:nvPr/>
        </p:nvSpPr>
        <p:spPr>
          <a:xfrm>
            <a:off x="2115312" y="2148840"/>
            <a:ext cx="1481328" cy="2331720"/>
          </a:xfrm>
          <a:prstGeom prst="roundRect">
            <a:avLst>
              <a:gd name="adj" fmla="val 740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18232" y="2350008"/>
            <a:ext cx="475488" cy="47548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3" name="Image 1" descr="/home/claude/mats_deck/icons/ey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04" y="246888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88464" y="29352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206752" y="3429000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continuously watches tracked positions.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3616300" y="3186684"/>
            <a:ext cx="91745" cy="256032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17" name="Shape 13"/>
          <p:cNvSpPr/>
          <p:nvPr/>
        </p:nvSpPr>
        <p:spPr>
          <a:xfrm>
            <a:off x="3727704" y="2148840"/>
            <a:ext cx="1481328" cy="2331720"/>
          </a:xfrm>
          <a:prstGeom prst="roundRect">
            <a:avLst>
              <a:gd name="adj" fmla="val 740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30624" y="2350008"/>
            <a:ext cx="475488" cy="47548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9" name="Image 2" descr="/home/claude/mats_deck/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496" y="246888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00856" y="29352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Detection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3819144" y="3429000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Relevant changes are flagged automatically.</a:t>
            </a:r>
            <a:endParaRPr lang="en-US" sz="870" dirty="0"/>
          </a:p>
        </p:txBody>
      </p:sp>
      <p:sp>
        <p:nvSpPr>
          <p:cNvPr id="22" name="Shape 17"/>
          <p:cNvSpPr/>
          <p:nvPr/>
        </p:nvSpPr>
        <p:spPr>
          <a:xfrm>
            <a:off x="5228692" y="3186684"/>
            <a:ext cx="91745" cy="256032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3" name="Shape 18"/>
          <p:cNvSpPr/>
          <p:nvPr/>
        </p:nvSpPr>
        <p:spPr>
          <a:xfrm>
            <a:off x="5340096" y="2148840"/>
            <a:ext cx="1481328" cy="2331720"/>
          </a:xfrm>
          <a:prstGeom prst="roundRect">
            <a:avLst>
              <a:gd name="adj" fmla="val 740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843016" y="2350008"/>
            <a:ext cx="475488" cy="47548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5" name="Image 3" descr="/home/claude/mats_deck/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46888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413248" y="29352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Routing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31536" y="3429000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orchestrator selects the right specialists.</a:t>
            </a:r>
            <a:endParaRPr lang="en-US" sz="870" dirty="0"/>
          </a:p>
        </p:txBody>
      </p:sp>
      <p:sp>
        <p:nvSpPr>
          <p:cNvPr id="28" name="Shape 22"/>
          <p:cNvSpPr/>
          <p:nvPr/>
        </p:nvSpPr>
        <p:spPr>
          <a:xfrm>
            <a:off x="6841084" y="3186684"/>
            <a:ext cx="91745" cy="256032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9" name="Shape 23"/>
          <p:cNvSpPr/>
          <p:nvPr/>
        </p:nvSpPr>
        <p:spPr>
          <a:xfrm>
            <a:off x="6952488" y="2148840"/>
            <a:ext cx="1481328" cy="2331720"/>
          </a:xfrm>
          <a:prstGeom prst="roundRect">
            <a:avLst>
              <a:gd name="adj" fmla="val 740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455408" y="2350008"/>
            <a:ext cx="475488" cy="47548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1" name="Image 4" descr="/home/claude/mats_deck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2468880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025640" y="29352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+ Risk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7043928" y="3429000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analyze; the risk engine scores impact.</a:t>
            </a:r>
            <a:endParaRPr lang="en-US" sz="870" dirty="0"/>
          </a:p>
        </p:txBody>
      </p:sp>
      <p:sp>
        <p:nvSpPr>
          <p:cNvPr id="34" name="Shape 27"/>
          <p:cNvSpPr/>
          <p:nvPr/>
        </p:nvSpPr>
        <p:spPr>
          <a:xfrm>
            <a:off x="8453476" y="3186684"/>
            <a:ext cx="91745" cy="256032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35" name="Shape 28"/>
          <p:cNvSpPr/>
          <p:nvPr/>
        </p:nvSpPr>
        <p:spPr>
          <a:xfrm>
            <a:off x="8564880" y="2148840"/>
            <a:ext cx="1481328" cy="2331720"/>
          </a:xfrm>
          <a:prstGeom prst="roundRect">
            <a:avLst>
              <a:gd name="adj" fmla="val 7407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067800" y="2350008"/>
            <a:ext cx="475488" cy="475488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7" name="Image 5" descr="/home/claude/mats_deck/icons/bel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6672" y="2468880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638032" y="29352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Prioritized Alert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8656320" y="3429000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are ranked and surfaced to the investor.</a:t>
            </a:r>
            <a:endParaRPr lang="en-US" sz="870" dirty="0"/>
          </a:p>
        </p:txBody>
      </p:sp>
      <p:sp>
        <p:nvSpPr>
          <p:cNvPr id="40" name="Shape 32"/>
          <p:cNvSpPr/>
          <p:nvPr/>
        </p:nvSpPr>
        <p:spPr>
          <a:xfrm>
            <a:off x="10065868" y="3186684"/>
            <a:ext cx="91745" cy="256032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41" name="Shape 33"/>
          <p:cNvSpPr/>
          <p:nvPr/>
        </p:nvSpPr>
        <p:spPr>
          <a:xfrm>
            <a:off x="10177272" y="2148840"/>
            <a:ext cx="1481328" cy="2331720"/>
          </a:xfrm>
          <a:prstGeom prst="roundRect">
            <a:avLst>
              <a:gd name="adj" fmla="val 7407"/>
            </a:avLst>
          </a:prstGeom>
          <a:solidFill>
            <a:srgbClr val="1A1712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0680192" y="2350008"/>
            <a:ext cx="475488" cy="475488"/>
          </a:xfrm>
          <a:prstGeom prst="ellipse">
            <a:avLst/>
          </a:prstGeom>
          <a:solidFill>
            <a:srgbClr val="FF7A29"/>
          </a:solidFill>
        </p:spPr>
      </p:sp>
      <p:pic>
        <p:nvPicPr>
          <p:cNvPr id="43" name="Image 6" descr="/home/claude/mats_deck/icons/mess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9064" y="2468880"/>
            <a:ext cx="237744" cy="23774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250424" y="2935224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Copilot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10268712" y="3429000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 asks follow-ups in plain language.</a:t>
            </a:r>
            <a:endParaRPr lang="en-US" sz="870" dirty="0"/>
          </a:p>
        </p:txBody>
      </p:sp>
      <p:sp>
        <p:nvSpPr>
          <p:cNvPr id="46" name="Shape 37"/>
          <p:cNvSpPr/>
          <p:nvPr/>
        </p:nvSpPr>
        <p:spPr>
          <a:xfrm>
            <a:off x="502920" y="489204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47" name="Image 7" descr="/home/claude/mats_deck/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193792"/>
            <a:ext cx="292608" cy="292608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234440" y="5074920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Autonomy is scoped honestly: the system detects, routes, analyzes and alerts. Trading decisions always remain with the investor.</a:t>
            </a:r>
            <a:endParaRPr lang="en-US" sz="1250" dirty="0"/>
          </a:p>
        </p:txBody>
      </p:sp>
      <p:sp>
        <p:nvSpPr>
          <p:cNvPr id="49" name="Text 39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Autonomy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— AGENT ROLES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Meet the Agent Council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questions need different evidence — so specialists own different lenses.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575408" y="3086100"/>
            <a:ext cx="7040880" cy="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5408" y="4869180"/>
            <a:ext cx="7040880" cy="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3086100"/>
            <a:ext cx="0" cy="27432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4594860"/>
            <a:ext cx="0" cy="27432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0968" y="196596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3848" y="2203704"/>
            <a:ext cx="457200" cy="45720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1" name="Image 0" descr="/home/claude/mats_deck/icons/trend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8" y="2318004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109064" y="214884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523848" y="273405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action &amp; indicators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75408" y="3086100"/>
            <a:ext cx="0" cy="25146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61408" y="196596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44288" y="2203704"/>
            <a:ext cx="457200" cy="45720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7" name="Image 1" descr="/home/claude/mats_deck/icons/barch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588" y="2318004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629504" y="214884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Fundamental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044288" y="273405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Financials &amp; filings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95848" y="3086100"/>
            <a:ext cx="0" cy="25146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81848" y="196596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64728" y="2203704"/>
            <a:ext cx="457200" cy="45720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3" name="Image 2" descr="/home/claude/mats_deck/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028" y="2318004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149944" y="214884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Sentiment / Market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564728" y="273405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News &amp; market mood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9616288" y="3086100"/>
            <a:ext cx="0" cy="25146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340968" y="50749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523848" y="5312664"/>
            <a:ext cx="457200" cy="45720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9" name="Image 3" descr="/home/claude/mats_deck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148" y="5426964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109064" y="525780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/ RAG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523848" y="584301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Grounded, cited retrieval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575408" y="4869180"/>
            <a:ext cx="0" cy="20574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861408" y="50749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044288" y="5312664"/>
            <a:ext cx="457200" cy="45720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5" name="Image 4" descr="/home/claude/mats_deck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588" y="5426964"/>
            <a:ext cx="228600" cy="2286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629504" y="525780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044288" y="584301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 impact &amp; exposure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095848" y="4869180"/>
            <a:ext cx="0" cy="20574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381848" y="50749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564728" y="5312664"/>
            <a:ext cx="457200" cy="45720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41" name="Image 5" descr="/home/claude/mats_deck/icons/gitbra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9028" y="5426964"/>
            <a:ext cx="228600" cy="2286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149944" y="525780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Counterargument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8564728" y="584301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the consensus view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9616288" y="4869180"/>
            <a:ext cx="0" cy="205740"/>
          </a:xfrm>
          <a:prstGeom prst="line">
            <a:avLst/>
          </a:prstGeom>
          <a:noFill/>
          <a:ln w="15875">
            <a:solidFill>
              <a:srgbClr val="3A3F4D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478628" y="3360420"/>
            <a:ext cx="1234440" cy="1234440"/>
          </a:xfrm>
          <a:prstGeom prst="ellipse">
            <a:avLst/>
          </a:prstGeom>
          <a:solidFill>
            <a:srgbClr val="FF7A29"/>
          </a:solidFill>
        </p:spPr>
      </p:sp>
      <p:pic>
        <p:nvPicPr>
          <p:cNvPr id="46" name="Image 6" descr="/home/claude/mats_deck/icons/cpu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615" y="3718408"/>
            <a:ext cx="518465" cy="51846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5181448" y="466801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Roles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/ UI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34256" y="2171700"/>
            <a:ext cx="201168" cy="109728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7" name="Shape 5"/>
          <p:cNvSpPr/>
          <p:nvPr/>
        </p:nvSpPr>
        <p:spPr>
          <a:xfrm>
            <a:off x="502920" y="2286000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/ Auth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2857500"/>
            <a:ext cx="201168" cy="109728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10" name="Shape 8"/>
          <p:cNvSpPr/>
          <p:nvPr/>
        </p:nvSpPr>
        <p:spPr>
          <a:xfrm>
            <a:off x="502920" y="2971800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5C3A22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7180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Copilot / Orchestrator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3543300"/>
            <a:ext cx="201168" cy="109728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13" name="Shape 11"/>
          <p:cNvSpPr/>
          <p:nvPr/>
        </p:nvSpPr>
        <p:spPr>
          <a:xfrm>
            <a:off x="502920" y="3657600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Specialized Agents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34256" y="4229100"/>
            <a:ext cx="201168" cy="109728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16" name="Shape 14"/>
          <p:cNvSpPr/>
          <p:nvPr/>
        </p:nvSpPr>
        <p:spPr>
          <a:xfrm>
            <a:off x="502920" y="4343400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 Collector  →  Conflict Detector  →  Counterargument  →  Synthesis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34256" y="4914900"/>
            <a:ext cx="201168" cy="109728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19" name="Shape 17"/>
          <p:cNvSpPr/>
          <p:nvPr/>
        </p:nvSpPr>
        <p:spPr>
          <a:xfrm>
            <a:off x="502920" y="5029200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5C3A22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029200"/>
            <a:ext cx="7406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 →  Personalization  →  Alerts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34256" y="5600700"/>
            <a:ext cx="201168" cy="109728"/>
          </a:xfrm>
          <a:prstGeom prst="rect">
            <a:avLst/>
          </a:prstGeom>
          <a:solidFill>
            <a:srgbClr val="6E7383"/>
          </a:solidFill>
        </p:spPr>
      </p:sp>
      <p:sp>
        <p:nvSpPr>
          <p:cNvPr id="22" name="Shape 20"/>
          <p:cNvSpPr/>
          <p:nvPr/>
        </p:nvSpPr>
        <p:spPr>
          <a:xfrm>
            <a:off x="8732520" y="1600200"/>
            <a:ext cx="2971800" cy="4434840"/>
          </a:xfrm>
          <a:prstGeom prst="roundRect">
            <a:avLst>
              <a:gd name="adj" fmla="val 4308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88552" y="18105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SUPPORTING SYSTEMS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88552" y="2240280"/>
            <a:ext cx="420624" cy="42062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5" name="Image 0" descr="/home/claude/mats_deck/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3708" y="2345436"/>
            <a:ext cx="210312" cy="21031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537192" y="227685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Data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988552" y="2898648"/>
            <a:ext cx="420624" cy="42062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8" name="Image 1" descr="/home/claude/mats_deck/icons/serv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708" y="3003804"/>
            <a:ext cx="210312" cy="21031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9537192" y="293522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988552" y="3557016"/>
            <a:ext cx="420624" cy="42062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1" name="Image 2" descr="/home/claude/mats_deck/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08" y="3662172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537192" y="359359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988552" y="4215384"/>
            <a:ext cx="420624" cy="42062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4" name="Image 3" descr="/home/claude/mats_deck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708" y="4320540"/>
            <a:ext cx="210312" cy="21031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537192" y="425196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988552" y="4873752"/>
            <a:ext cx="420624" cy="42062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7" name="Image 4" descr="/home/claude/mats_deck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708" y="4978908"/>
            <a:ext cx="210312" cy="21031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537192" y="491032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stay modular, logical components — keeping the whole system practical to run and reason about.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— TRUST &amp;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on Evidence, Not Guesswork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ANALYSIS CARRIES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628900" cy="1051560"/>
          </a:xfrm>
          <a:prstGeom prst="roundRect">
            <a:avLst>
              <a:gd name="adj" fmla="val 8696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22576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7" name="Image 0" descr="/home/claude/mats_deck/icons/boo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4505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07592" y="2057400"/>
            <a:ext cx="16687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0420" y="2057400"/>
            <a:ext cx="2628900" cy="1051560"/>
          </a:xfrm>
          <a:prstGeom prst="roundRect">
            <a:avLst>
              <a:gd name="adj" fmla="val 8696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3300" y="2322576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1" name="Image 1" descr="/home/claude/mats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6" y="24505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5092" y="2057400"/>
            <a:ext cx="16687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3291840"/>
            <a:ext cx="2628900" cy="1051560"/>
          </a:xfrm>
          <a:prstGeom prst="roundRect">
            <a:avLst>
              <a:gd name="adj" fmla="val 8696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557016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5" name="Image 2" descr="/home/claude/mats_deck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6850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07592" y="3291840"/>
            <a:ext cx="16687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freshness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360420" y="3291840"/>
            <a:ext cx="2628900" cy="1051560"/>
          </a:xfrm>
          <a:prstGeom prst="roundRect">
            <a:avLst>
              <a:gd name="adj" fmla="val 8696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543300" y="3557016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9" name="Image 3" descr="/home/claude/mats_deck/icons/git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368503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165092" y="3291840"/>
            <a:ext cx="16687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agreement / conflict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" y="4526280"/>
            <a:ext cx="2628900" cy="1051560"/>
          </a:xfrm>
          <a:prstGeom prst="roundRect">
            <a:avLst>
              <a:gd name="adj" fmla="val 8696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85800" y="4791456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3" name="Image 4" descr="/home/claude/mats_deck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9194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07592" y="4526280"/>
            <a:ext cx="16687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360420" y="4526280"/>
            <a:ext cx="2628900" cy="1051560"/>
          </a:xfrm>
          <a:prstGeom prst="roundRect">
            <a:avLst>
              <a:gd name="adj" fmla="val 8696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543300" y="4791456"/>
            <a:ext cx="512064" cy="512064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7" name="Image 5" descr="/home/claude/mats_deck/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316" y="491947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165092" y="4526280"/>
            <a:ext cx="16687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355080" y="169164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1A1712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647688" y="1938528"/>
            <a:ext cx="502920" cy="502920"/>
          </a:xfrm>
          <a:prstGeom prst="ellipse">
            <a:avLst/>
          </a:prstGeom>
          <a:solidFill>
            <a:srgbClr val="FF7A29"/>
          </a:solidFill>
        </p:spPr>
      </p:sp>
      <p:pic>
        <p:nvPicPr>
          <p:cNvPr id="31" name="Image 6" descr="/home/claude/mats_deck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3418" y="2064258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87768" y="1993392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 Guarantees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6647688" y="2697480"/>
            <a:ext cx="274320" cy="274320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34" name="Image 7" descr="/home/claude/mats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761488"/>
            <a:ext cx="146304" cy="14630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68312" y="2670048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fabricated financial data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6647688" y="3273552"/>
            <a:ext cx="274320" cy="274320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37" name="Image 8" descr="/home/claude/mats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3337560"/>
            <a:ext cx="146304" cy="14630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068312" y="3246120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fabricated citations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6647688" y="3849624"/>
            <a:ext cx="274320" cy="274320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40" name="Image 9" descr="/home/claude/mats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3913632"/>
            <a:ext cx="146304" cy="146304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068312" y="3822192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/ RAG injection defenses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6647688" y="4425696"/>
            <a:ext cx="274320" cy="274320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43" name="Image 10" descr="/home/claude/mats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4489704"/>
            <a:ext cx="146304" cy="146304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7068312" y="4398264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isolation</a:t>
            </a:r>
            <a:endParaRPr lang="en-US" sz="1300" dirty="0"/>
          </a:p>
        </p:txBody>
      </p:sp>
      <p:sp>
        <p:nvSpPr>
          <p:cNvPr id="45" name="Shape 32"/>
          <p:cNvSpPr/>
          <p:nvPr/>
        </p:nvSpPr>
        <p:spPr>
          <a:xfrm>
            <a:off x="6647688" y="5001768"/>
            <a:ext cx="274320" cy="274320"/>
          </a:xfrm>
          <a:prstGeom prst="ellipse">
            <a:avLst/>
          </a:prstGeom>
          <a:solidFill>
            <a:srgbClr val="1D3A2C"/>
          </a:solidFill>
        </p:spPr>
      </p:sp>
      <p:pic>
        <p:nvPicPr>
          <p:cNvPr id="46" name="Image 11" descr="/home/claude/mats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5065776"/>
            <a:ext cx="146304" cy="146304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068312" y="4974336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remains the final decision-maker</a:t>
            </a:r>
            <a:endParaRPr lang="en-US" sz="1300" dirty="0"/>
          </a:p>
        </p:txBody>
      </p:sp>
      <p:sp>
        <p:nvSpPr>
          <p:cNvPr id="48" name="Text 34"/>
          <p:cNvSpPr txBox="1"/>
          <p:nvPr/>
        </p:nvSpPr>
        <p:spPr>
          <a:xfrm>
            <a:off x="6647688" y="562356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A3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evidence is unavailable, MATS says so — it never invents it.</a:t>
            </a:r>
            <a:endParaRPr lang="en-US" sz="1150" dirty="0"/>
          </a:p>
        </p:txBody>
      </p:sp>
      <p:sp>
        <p:nvSpPr>
          <p:cNvPr id="49" name="Text 35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&amp; Safety</a:t>
            </a:r>
            <a:endParaRPr lang="en-US" sz="900" dirty="0"/>
          </a:p>
        </p:txBody>
      </p:sp>
      <p:sp>
        <p:nvSpPr>
          <p:cNvPr id="50" name="Text 36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— DIFFERENTIATION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Multi-Agent Wins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SINGLE MODEL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6" name="Text 4"/>
          <p:cNvSpPr txBox="1"/>
          <p:nvPr/>
        </p:nvSpPr>
        <p:spPr>
          <a:xfrm>
            <a:off x="502920" y="19659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96312" y="2103120"/>
            <a:ext cx="365760" cy="228600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8" name="Shape 6"/>
          <p:cNvSpPr/>
          <p:nvPr/>
        </p:nvSpPr>
        <p:spPr>
          <a:xfrm>
            <a:off x="2926080" y="196596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9" name="Text 7"/>
          <p:cNvSpPr txBox="1"/>
          <p:nvPr/>
        </p:nvSpPr>
        <p:spPr>
          <a:xfrm>
            <a:off x="2926080" y="19659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80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1499616" cy="56692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14081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/ Event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07108" y="3419856"/>
            <a:ext cx="98755" cy="219456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14" name="Shape 12"/>
          <p:cNvSpPr/>
          <p:nvPr/>
        </p:nvSpPr>
        <p:spPr>
          <a:xfrm>
            <a:off x="2112264" y="3246120"/>
            <a:ext cx="1499616" cy="56692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15" name="Text 13"/>
          <p:cNvSpPr txBox="1"/>
          <p:nvPr/>
        </p:nvSpPr>
        <p:spPr>
          <a:xfrm>
            <a:off x="2157984" y="3246120"/>
            <a:ext cx="14081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16452" y="3419856"/>
            <a:ext cx="98755" cy="219456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17" name="Shape 15"/>
          <p:cNvSpPr/>
          <p:nvPr/>
        </p:nvSpPr>
        <p:spPr>
          <a:xfrm>
            <a:off x="3721608" y="3246120"/>
            <a:ext cx="1499616" cy="56692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18" name="Text 16"/>
          <p:cNvSpPr txBox="1"/>
          <p:nvPr/>
        </p:nvSpPr>
        <p:spPr>
          <a:xfrm>
            <a:off x="3767328" y="3246120"/>
            <a:ext cx="14081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Specialists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25796" y="3419856"/>
            <a:ext cx="98755" cy="219456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0" name="Shape 18"/>
          <p:cNvSpPr/>
          <p:nvPr/>
        </p:nvSpPr>
        <p:spPr>
          <a:xfrm>
            <a:off x="5330952" y="3246120"/>
            <a:ext cx="1499616" cy="56692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21" name="Text 19"/>
          <p:cNvSpPr txBox="1"/>
          <p:nvPr/>
        </p:nvSpPr>
        <p:spPr>
          <a:xfrm>
            <a:off x="5376672" y="3246120"/>
            <a:ext cx="14081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35140" y="3419856"/>
            <a:ext cx="98755" cy="219456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3" name="Shape 21"/>
          <p:cNvSpPr/>
          <p:nvPr/>
        </p:nvSpPr>
        <p:spPr>
          <a:xfrm>
            <a:off x="6940296" y="3246120"/>
            <a:ext cx="1499616" cy="56692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24" name="Text 22"/>
          <p:cNvSpPr txBox="1"/>
          <p:nvPr/>
        </p:nvSpPr>
        <p:spPr>
          <a:xfrm>
            <a:off x="6986016" y="3246120"/>
            <a:ext cx="14081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Conflict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44484" y="3419856"/>
            <a:ext cx="98755" cy="219456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6" name="Shape 24"/>
          <p:cNvSpPr/>
          <p:nvPr/>
        </p:nvSpPr>
        <p:spPr>
          <a:xfrm>
            <a:off x="8549640" y="3246120"/>
            <a:ext cx="1499616" cy="56692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27" name="Text 25"/>
          <p:cNvSpPr txBox="1"/>
          <p:nvPr/>
        </p:nvSpPr>
        <p:spPr>
          <a:xfrm>
            <a:off x="8595360" y="3246120"/>
            <a:ext cx="14081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Counterargument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53828" y="3419856"/>
            <a:ext cx="98755" cy="219456"/>
          </a:xfrm>
          <a:prstGeom prst="chevron">
            <a:avLst/>
          </a:prstGeom>
          <a:solidFill>
            <a:srgbClr val="6E7383"/>
          </a:solidFill>
        </p:spPr>
      </p:sp>
      <p:sp>
        <p:nvSpPr>
          <p:cNvPr id="29" name="Shape 27"/>
          <p:cNvSpPr/>
          <p:nvPr/>
        </p:nvSpPr>
        <p:spPr>
          <a:xfrm>
            <a:off x="10158984" y="3246120"/>
            <a:ext cx="1499616" cy="566928"/>
          </a:xfrm>
          <a:prstGeom prst="roundRect">
            <a:avLst>
              <a:gd name="adj" fmla="val 50000"/>
            </a:avLst>
          </a:prstGeom>
          <a:solidFill>
            <a:srgbClr val="FF7A29"/>
          </a:solidFill>
        </p:spPr>
      </p:sp>
      <p:sp>
        <p:nvSpPr>
          <p:cNvPr id="30" name="Text 28"/>
          <p:cNvSpPr txBox="1"/>
          <p:nvPr/>
        </p:nvSpPr>
        <p:spPr>
          <a:xfrm>
            <a:off x="10204704" y="3246120"/>
            <a:ext cx="14081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0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Synthesis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SIX SPECIALIST LENSES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49884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33" name="Text 31"/>
          <p:cNvSpPr txBox="1"/>
          <p:nvPr/>
        </p:nvSpPr>
        <p:spPr>
          <a:xfrm>
            <a:off x="502920" y="4498848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47672" y="449884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35" name="Text 33"/>
          <p:cNvSpPr txBox="1"/>
          <p:nvPr/>
        </p:nvSpPr>
        <p:spPr>
          <a:xfrm>
            <a:off x="1947672" y="449884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Fundamental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75304" y="449884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37" name="Text 35"/>
          <p:cNvSpPr txBox="1"/>
          <p:nvPr/>
        </p:nvSpPr>
        <p:spPr>
          <a:xfrm>
            <a:off x="3575304" y="449884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Sentiment / Market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43016" y="44988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39" name="Text 37"/>
          <p:cNvSpPr txBox="1"/>
          <p:nvPr/>
        </p:nvSpPr>
        <p:spPr>
          <a:xfrm>
            <a:off x="5843016" y="449884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/ RAG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44968" y="4498848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41" name="Text 39"/>
          <p:cNvSpPr txBox="1"/>
          <p:nvPr/>
        </p:nvSpPr>
        <p:spPr>
          <a:xfrm>
            <a:off x="7744968" y="4498848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32520" y="44988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43" name="Text 41"/>
          <p:cNvSpPr txBox="1"/>
          <p:nvPr/>
        </p:nvSpPr>
        <p:spPr>
          <a:xfrm>
            <a:off x="8732520" y="449884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Counterargument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name="adj" fmla="val 10435"/>
            </a:avLst>
          </a:prstGeom>
          <a:solidFill>
            <a:srgbClr val="15171F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“We do not ask one model to agree with itself — specialized components produce evidence that can be compared.”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— USER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Conversation With Your Copilot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INVESTORS CAN ASK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6" name="Image 0" descr="/home/claude/mats_deck/icons/mess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037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05740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“Why did my portfolio risk increase?”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715768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9" name="Image 1" descr="/home/claude/mats_deck/icons/mess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8620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71576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“What changed?”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3374136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12" name="Image 2" descr="/home/claude/mats_deck/icons/mess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5204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37413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“Compare two companies”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2920" y="4032504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15" name="Image 3" descr="/home/claude/mats_deck/icons/mess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17880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403250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“Challenge the bull case”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02920" y="4690872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18" name="Image 4" descr="/home/claude/mats_deck/icons/mess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8371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469087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“What if this falls 10%?”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02920" y="534924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21" name="Image 5" descr="/home/claude/mats_deck/icons/mess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549554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534924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“Show evidence”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7040880" y="1691640"/>
            <a:ext cx="4663440" cy="4434840"/>
          </a:xfrm>
          <a:prstGeom prst="roundRect">
            <a:avLst>
              <a:gd name="adj" fmla="val 2887"/>
            </a:avLst>
          </a:prstGeom>
          <a:solidFill>
            <a:srgbClr val="1A1712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315200" y="1920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POWERED BY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7315200" y="22860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7461504" y="2459736"/>
            <a:ext cx="420624" cy="420624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27" name="Image 6" descr="/home/claude/mats_deck/icons/targ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2564892"/>
            <a:ext cx="210312" cy="21031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973568" y="2286000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9464040" y="22860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9610344" y="2459736"/>
            <a:ext cx="420624" cy="420624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31" name="Image 7" descr="/home/claude/mats_dec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564892"/>
            <a:ext cx="210312" cy="2103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122408" y="2286000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Data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7315200" y="32004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7461504" y="3374136"/>
            <a:ext cx="420624" cy="420624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35" name="Image 8" descr="/home/claude/mats_deck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3479292"/>
            <a:ext cx="210312" cy="21031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973568" y="3200400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9464040" y="32004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9610344" y="3374136"/>
            <a:ext cx="420624" cy="420624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39" name="Image 9" descr="/home/claude/mats_deck/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3479292"/>
            <a:ext cx="210312" cy="21031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122408" y="3200400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7315200" y="41148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7461504" y="4288536"/>
            <a:ext cx="420624" cy="420624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43" name="Image 10" descr="/home/claude/mats_deck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4393692"/>
            <a:ext cx="210312" cy="21031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7973568" y="4114800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</a:t>
            </a:r>
            <a:endParaRPr lang="en-US" sz="1100" dirty="0"/>
          </a:p>
        </p:txBody>
      </p:sp>
      <p:sp>
        <p:nvSpPr>
          <p:cNvPr id="45" name="Shape 32"/>
          <p:cNvSpPr/>
          <p:nvPr/>
        </p:nvSpPr>
        <p:spPr>
          <a:xfrm>
            <a:off x="9464040" y="41148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9610344" y="4288536"/>
            <a:ext cx="420624" cy="420624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47" name="Image 11" descr="/home/claude/mats_deck/icons/repea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4393692"/>
            <a:ext cx="210312" cy="21031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10122408" y="4114800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49" name="Shape 35"/>
          <p:cNvSpPr/>
          <p:nvPr/>
        </p:nvSpPr>
        <p:spPr>
          <a:xfrm>
            <a:off x="7315200" y="50292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0232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7461504" y="5202936"/>
            <a:ext cx="420624" cy="420624"/>
          </a:xfrm>
          <a:prstGeom prst="ellipse">
            <a:avLst/>
          </a:prstGeom>
          <a:solidFill>
            <a:srgbClr val="1B1E28"/>
          </a:solidFill>
        </p:spPr>
      </p:sp>
      <p:pic>
        <p:nvPicPr>
          <p:cNvPr id="51" name="Image 12" descr="/home/claude/mats_deck/icons/clo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6660" y="5308092"/>
            <a:ext cx="210312" cy="210312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973568" y="5029200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</a:t>
            </a:r>
            <a:endParaRPr lang="en-US" sz="1100" dirty="0"/>
          </a:p>
        </p:txBody>
      </p:sp>
      <p:sp>
        <p:nvSpPr>
          <p:cNvPr id="53" name="Text 38"/>
          <p:cNvSpPr txBox="1"/>
          <p:nvPr/>
        </p:nvSpPr>
        <p:spPr>
          <a:xfrm>
            <a:off x="7315200" y="56235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tools provide factual context; AI organizes and explains it.</a:t>
            </a:r>
            <a:endParaRPr lang="en-US" sz="1100" dirty="0"/>
          </a:p>
        </p:txBody>
      </p:sp>
      <p:sp>
        <p:nvSpPr>
          <p:cNvPr id="54" name="Text 39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Journey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—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Designed for Every Investor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Accessibility is part of product design, not decoration.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596640" cy="1874520"/>
          </a:xfrm>
          <a:prstGeom prst="roundRect">
            <a:avLst>
              <a:gd name="adj" fmla="val 5854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7" name="Image 0" descr="/home/claude/mats_deck/icons/mic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4117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926080"/>
            <a:ext cx="3139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Voice-first interaction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91840"/>
            <a:ext cx="313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Speak naturally instead of navigating dashboards.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2440" y="2057400"/>
            <a:ext cx="3596640" cy="1874520"/>
          </a:xfrm>
          <a:prstGeom prst="roundRect">
            <a:avLst>
              <a:gd name="adj" fmla="val 5854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11040" y="2286000"/>
            <a:ext cx="502920" cy="50292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2" name="Image 1" descr="/home/claude/mats_deck/icons/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70" y="24117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11040" y="2926080"/>
            <a:ext cx="3139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Multi-language support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11040" y="3291840"/>
            <a:ext cx="313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English, Tamil and Hindi where tested.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61960" y="2057400"/>
            <a:ext cx="3596640" cy="1874520"/>
          </a:xfrm>
          <a:prstGeom prst="roundRect">
            <a:avLst>
              <a:gd name="adj" fmla="val 5854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90560" y="2286000"/>
            <a:ext cx="502920" cy="50292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7" name="Image 2" descr="/home/claude/mats_deck/icons/ty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290" y="24117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90560" y="2926080"/>
            <a:ext cx="3139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Accessibility mode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290560" y="3291840"/>
            <a:ext cx="313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text and reduced-motion options.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4114800"/>
            <a:ext cx="3596640" cy="1874520"/>
          </a:xfrm>
          <a:prstGeom prst="roundRect">
            <a:avLst>
              <a:gd name="adj" fmla="val 5854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2" name="Image 3" descr="/home/claude/mats_deck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46913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" y="4983480"/>
            <a:ext cx="3139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portability &amp; provenance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5349240"/>
            <a:ext cx="313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data, your evidence — always traceable.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82440" y="4114800"/>
            <a:ext cx="3596640" cy="1874520"/>
          </a:xfrm>
          <a:prstGeom prst="roundRect">
            <a:avLst>
              <a:gd name="adj" fmla="val 5854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11040" y="4343400"/>
            <a:ext cx="502920" cy="50292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7" name="Image 4" descr="/home/claude/mats_deck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770" y="446913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11040" y="4983480"/>
            <a:ext cx="3139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511040" y="5349240"/>
            <a:ext cx="313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arrives even when you're not watching.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61960" y="4114800"/>
            <a:ext cx="3596640" cy="1874520"/>
          </a:xfrm>
          <a:prstGeom prst="roundRect">
            <a:avLst>
              <a:gd name="adj" fmla="val 5854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90560" y="4343400"/>
            <a:ext cx="502920" cy="502920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2" name="Image 5" descr="/home/claude/mats_deck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290" y="446913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90560" y="4983480"/>
            <a:ext cx="3139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 over noise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8290560" y="5349240"/>
            <a:ext cx="313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Clarity backed by sources, not just confidence.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Impact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— 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What's Next for MATS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roadmap — directions we plan to build on, not features we claim today.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5000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7" name="Text 5"/>
          <p:cNvSpPr txBox="1"/>
          <p:nvPr/>
        </p:nvSpPr>
        <p:spPr>
          <a:xfrm>
            <a:off x="685800" y="2350008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04088" y="2788920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9" name="Image 0" descr="/home/claude/mats_deck/icons/glo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921508"/>
            <a:ext cx="265176" cy="265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" y="3447288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Broader language coverage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977640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voice &amp; text support to more Indian languages.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214884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235000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14" name="Text 11"/>
          <p:cNvSpPr txBox="1"/>
          <p:nvPr/>
        </p:nvSpPr>
        <p:spPr>
          <a:xfrm>
            <a:off x="3520440" y="2350008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538728" y="2788920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16" name="Image 1" descr="/home/claude/mats_deck/icons/cp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6" y="2921508"/>
            <a:ext cx="265176" cy="26517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38728" y="3447288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More specialist agents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538728" y="3977640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 the agent bench for deeper sector and macro views.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72200" y="214884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55080" y="235000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21" name="Text 17"/>
          <p:cNvSpPr txBox="1"/>
          <p:nvPr/>
        </p:nvSpPr>
        <p:spPr>
          <a:xfrm>
            <a:off x="6355080" y="2350008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PLANNED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373368" y="2788920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23" name="Image 2" descr="/home/claude/mats_deck/icons/rep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2921508"/>
            <a:ext cx="265176" cy="26517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73368" y="3447288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Deeper personalization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373368" y="3977640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Richer portfolio simulation and scenario modeling.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06840" y="2148840"/>
            <a:ext cx="2651760" cy="2514600"/>
          </a:xfrm>
          <a:prstGeom prst="roundRect">
            <a:avLst>
              <a:gd name="adj" fmla="val 5091"/>
            </a:avLst>
          </a:prstGeom>
          <a:solidFill>
            <a:srgbClr val="1517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189720" y="235000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5C3A22"/>
          </a:solidFill>
        </p:spPr>
      </p:sp>
      <p:sp>
        <p:nvSpPr>
          <p:cNvPr id="28" name="Text 23"/>
          <p:cNvSpPr txBox="1"/>
          <p:nvPr/>
        </p:nvSpPr>
        <p:spPr>
          <a:xfrm>
            <a:off x="9189720" y="2350008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PLANNED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9208008" y="2788920"/>
            <a:ext cx="530352" cy="530352"/>
          </a:xfrm>
          <a:prstGeom prst="ellipse">
            <a:avLst/>
          </a:prstGeom>
          <a:solidFill>
            <a:srgbClr val="20232E"/>
          </a:solidFill>
        </p:spPr>
      </p:sp>
      <p:pic>
        <p:nvPicPr>
          <p:cNvPr id="30" name="Image 3" descr="/home/claude/mats_deck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596" y="2921508"/>
            <a:ext cx="265176" cy="26517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208008" y="3447288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Scaled infrastructure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9208008" y="3977640"/>
            <a:ext cx="224942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 abstraction and caching for more users and assets.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02920" y="502920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1B1E28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34" name="Image 4" descr="/home/claude/mats_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66944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234440" y="5029200"/>
            <a:ext cx="10195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current claim in this deck is implemented and tested; everything above is explicitly a planned direction.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0728655" y="651052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103120"/>
            <a:ext cx="6858000" cy="6858000"/>
          </a:xfrm>
          <a:prstGeom prst="ellipse">
            <a:avLst/>
          </a:prstGeom>
          <a:solidFill>
            <a:srgbClr val="FF7A29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686800" y="4114800"/>
            <a:ext cx="5943600" cy="5943600"/>
          </a:xfrm>
          <a:prstGeom prst="ellipse">
            <a:avLst/>
          </a:prstGeom>
          <a:solidFill>
            <a:srgbClr val="FF7A29">
              <a:alpha val="1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7A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— CLOSING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6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MATS Matters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39112" y="1783080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9" name="Text 7"/>
          <p:cNvSpPr txBox="1"/>
          <p:nvPr/>
        </p:nvSpPr>
        <p:spPr>
          <a:xfrm>
            <a:off x="2039112" y="1783080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Evidence-Backed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86200" y="1783080"/>
            <a:ext cx="1530706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11" name="Text 9"/>
          <p:cNvSpPr txBox="1"/>
          <p:nvPr/>
        </p:nvSpPr>
        <p:spPr>
          <a:xfrm>
            <a:off x="3886200" y="1783080"/>
            <a:ext cx="153070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Cross-Checked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54066" y="178308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B1E28"/>
          </a:solidFill>
        </p:spPr>
      </p:sp>
      <p:sp>
        <p:nvSpPr>
          <p:cNvPr id="13" name="Text 11"/>
          <p:cNvSpPr txBox="1"/>
          <p:nvPr/>
        </p:nvSpPr>
        <p:spPr>
          <a:xfrm>
            <a:off x="5554066" y="1783080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A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Risk-Aware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53098" y="1783080"/>
            <a:ext cx="1441094" cy="384048"/>
          </a:xfrm>
          <a:prstGeom prst="roundRect">
            <a:avLst>
              <a:gd name="adj" fmla="val 50000"/>
            </a:avLst>
          </a:prstGeom>
          <a:solidFill>
            <a:srgbClr val="FF7A29"/>
          </a:solidFill>
        </p:spPr>
      </p:sp>
      <p:sp>
        <p:nvSpPr>
          <p:cNvPr id="15" name="Text 13"/>
          <p:cNvSpPr txBox="1"/>
          <p:nvPr/>
        </p:nvSpPr>
        <p:spPr>
          <a:xfrm>
            <a:off x="6953098" y="1783080"/>
            <a:ext cx="144109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0E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Personalized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542032"/>
            <a:ext cx="164592" cy="164592"/>
          </a:xfrm>
          <a:prstGeom prst="ellipse">
            <a:avLst/>
          </a:prstGeom>
          <a:solidFill>
            <a:srgbClr val="FF7A29"/>
          </a:solidFill>
        </p:spPr>
      </p:sp>
      <p:sp>
        <p:nvSpPr>
          <p:cNvPr id="17" name="Text 15"/>
          <p:cNvSpPr txBox="1"/>
          <p:nvPr/>
        </p:nvSpPr>
        <p:spPr>
          <a:xfrm>
            <a:off x="932688" y="24414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Multi-agent orchestration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2926080"/>
            <a:ext cx="164592" cy="164592"/>
          </a:xfrm>
          <a:prstGeom prst="ellipse">
            <a:avLst/>
          </a:prstGeom>
          <a:solidFill>
            <a:srgbClr val="FF7A29"/>
          </a:solidFill>
        </p:spPr>
      </p:sp>
      <p:sp>
        <p:nvSpPr>
          <p:cNvPr id="19" name="Text 17"/>
          <p:cNvSpPr txBox="1"/>
          <p:nvPr/>
        </p:nvSpPr>
        <p:spPr>
          <a:xfrm>
            <a:off x="932688" y="28254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+ provenance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164592" cy="164592"/>
          </a:xfrm>
          <a:prstGeom prst="ellipse">
            <a:avLst/>
          </a:prstGeom>
          <a:solidFill>
            <a:srgbClr val="FF7A29"/>
          </a:solidFill>
        </p:spPr>
      </p:sp>
      <p:sp>
        <p:nvSpPr>
          <p:cNvPr id="21" name="Text 19"/>
          <p:cNvSpPr txBox="1"/>
          <p:nvPr/>
        </p:nvSpPr>
        <p:spPr>
          <a:xfrm>
            <a:off x="932688" y="32095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monitoring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694176"/>
            <a:ext cx="164592" cy="164592"/>
          </a:xfrm>
          <a:prstGeom prst="ellipse">
            <a:avLst/>
          </a:prstGeom>
          <a:solidFill>
            <a:srgbClr val="FF7A29"/>
          </a:solidFill>
        </p:spPr>
      </p:sp>
      <p:sp>
        <p:nvSpPr>
          <p:cNvPr id="23" name="Text 21"/>
          <p:cNvSpPr txBox="1"/>
          <p:nvPr/>
        </p:nvSpPr>
        <p:spPr>
          <a:xfrm>
            <a:off x="932688" y="35935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+ counterargument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078224"/>
            <a:ext cx="164592" cy="164592"/>
          </a:xfrm>
          <a:prstGeom prst="ellipse">
            <a:avLst/>
          </a:prstGeom>
          <a:solidFill>
            <a:srgbClr val="FF7A29"/>
          </a:solidFill>
        </p:spPr>
      </p:sp>
      <p:sp>
        <p:nvSpPr>
          <p:cNvPr id="25" name="Text 23"/>
          <p:cNvSpPr txBox="1"/>
          <p:nvPr/>
        </p:nvSpPr>
        <p:spPr>
          <a:xfrm>
            <a:off x="932688" y="3977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Portfolio-aware risk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FF7A29"/>
          </a:solidFill>
        </p:spPr>
      </p:sp>
      <p:sp>
        <p:nvSpPr>
          <p:cNvPr id="27" name="Text 25"/>
          <p:cNvSpPr txBox="1"/>
          <p:nvPr/>
        </p:nvSpPr>
        <p:spPr>
          <a:xfrm>
            <a:off x="932688" y="43616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Copilot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846320"/>
            <a:ext cx="164592" cy="164592"/>
          </a:xfrm>
          <a:prstGeom prst="ellipse">
            <a:avLst/>
          </a:prstGeom>
          <a:solidFill>
            <a:srgbClr val="FF7A29"/>
          </a:solidFill>
        </p:spPr>
      </p:sp>
      <p:sp>
        <p:nvSpPr>
          <p:cNvPr id="29" name="Text 27"/>
          <p:cNvSpPr txBox="1"/>
          <p:nvPr/>
        </p:nvSpPr>
        <p:spPr>
          <a:xfrm>
            <a:off x="932688" y="474573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Accessible interaction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23560" y="2468880"/>
            <a:ext cx="5943600" cy="2148840"/>
          </a:xfrm>
          <a:prstGeom prst="roundRect">
            <a:avLst>
              <a:gd name="adj" fmla="val 6809"/>
            </a:avLst>
          </a:prstGeom>
          <a:solidFill>
            <a:srgbClr val="15171F"/>
          </a:solidFill>
          <a:ln w="12700">
            <a:solidFill>
              <a:srgbClr val="5C3A2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2468880"/>
            <a:ext cx="521208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“MATS does not make the decision for the investor.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makes the investor better informed.”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257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E738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BY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207008" y="5632704"/>
            <a:ext cx="9921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Yugandran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82012" y="5577840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82012" y="5577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948940" y="5632704"/>
            <a:ext cx="10881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Manikandan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19956" y="5577840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19956" y="5577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786884" y="5632704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Suhail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6108192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6108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207008" y="6163056"/>
            <a:ext cx="9921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Lekasvarr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382012" y="6108192"/>
            <a:ext cx="457200" cy="457200"/>
          </a:xfrm>
          <a:prstGeom prst="ellipse">
            <a:avLst/>
          </a:prstGeom>
          <a:solidFill>
            <a:srgbClr val="20232E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382012" y="6108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3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2948940" y="6163056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6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Nithish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623560" y="47548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BA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— over to Q&amp;A and the live demo.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5661</Words>
  <Application>WPS Presentation</Application>
  <PresentationFormat>On-screen Show (16:9)</PresentationFormat>
  <Paragraphs>515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Arial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Mohamed Suhail</cp:lastModifiedBy>
  <cp:revision>2</cp:revision>
  <dcterms:created xsi:type="dcterms:W3CDTF">2026-09-01T09:51:00Z</dcterms:created>
  <dcterms:modified xsi:type="dcterms:W3CDTF">2026-09-01T09:54:08Z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47B388D4319A4AD3A5A56A48A131C067_12</vt:lpwstr>
  </property>
  <property fmtid="{D5CDD505-2E9C-101B-9397-08002B2CF9AE}" pid="3" name="KSOProductBuildVer">
    <vt:lpwstr>1033-12.1.0.28032</vt:lpwstr>
  </property>
</Properties>
</file>